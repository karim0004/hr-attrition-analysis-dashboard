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Lato Black" panose="020F0502020204030203" pitchFamily="34" charset="0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3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28F46E-7067-4526-B301-6DF32FB0FF3B}" v="27" dt="2026-09-10T03:22:24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a82439542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a82439542_0_1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8243954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8243954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8243954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a82439542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82439542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82439542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a82439542_0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a82439542_0_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a82439542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a82439542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a82439542_82_0)">
  <p:cSld name="Generated (g3fa82439542_82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571500" y="1047750"/>
            <a:ext cx="38100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C3831"/>
                </a:solidFill>
                <a:latin typeface="Lato"/>
                <a:ea typeface="Lato"/>
                <a:cs typeface="Lato"/>
                <a:sym typeface="Lato"/>
              </a:rPr>
              <a:t>Case Study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0">
                <a:solidFill>
                  <a:srgbClr val="2C2C2C"/>
                </a:solidFill>
                <a:latin typeface="Lato Black"/>
                <a:ea typeface="Lato Black"/>
                <a:cs typeface="Lato Black"/>
                <a:sym typeface="Lato Black"/>
              </a:rPr>
              <a:t>Attrition Analysis</a:t>
            </a:r>
            <a:endParaRPr sz="4200" b="0">
              <a:solidFill>
                <a:srgbClr val="2C2C2C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Key Findings &amp; Recommendations</a:t>
            </a:r>
            <a:endParaRPr sz="1600" b="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375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Made by: Karim .A</a:t>
            </a:r>
            <a:endParaRPr sz="1100" b="1">
              <a:solidFill>
                <a:srgbClr val="888888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September 2026</a:t>
            </a:r>
            <a:endParaRPr sz="1100" b="0">
              <a:solidFill>
                <a:srgbClr val="AAAAA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14"/>
          <p:cNvSpPr/>
          <p:nvPr/>
        </p:nvSpPr>
        <p:spPr>
          <a:xfrm rot="-4710201">
            <a:off x="5849104" y="167505"/>
            <a:ext cx="4901343" cy="5949840"/>
          </a:xfrm>
          <a:prstGeom prst="flowChartPunchedTape">
            <a:avLst/>
          </a:prstGeom>
          <a:solidFill>
            <a:srgbClr val="8C3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5"/>
          <p:cNvGrpSpPr/>
          <p:nvPr/>
        </p:nvGrpSpPr>
        <p:grpSpPr>
          <a:xfrm>
            <a:off x="476250" y="428625"/>
            <a:ext cx="3905400" cy="1762275"/>
            <a:chOff x="0" y="0"/>
            <a:chExt cx="3905400" cy="1762275"/>
          </a:xfrm>
        </p:grpSpPr>
        <p:sp>
          <p:nvSpPr>
            <p:cNvPr id="62" name="Google Shape;62;p15"/>
            <p:cNvSpPr txBox="1"/>
            <p:nvPr/>
          </p:nvSpPr>
          <p:spPr>
            <a:xfrm>
              <a:off x="0" y="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rPr>
                <a:t>Problem Statement</a:t>
              </a:r>
              <a:endParaRPr sz="2200" b="1">
                <a:solidFill>
                  <a:srgbClr val="8C383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3" name="Google Shape;63;p15"/>
            <p:cNvSpPr txBox="1"/>
            <p:nvPr/>
          </p:nvSpPr>
          <p:spPr>
            <a:xfrm>
              <a:off x="0" y="523875"/>
              <a:ext cx="3905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4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total company attrition stands at </a:t>
              </a:r>
              <a:r>
                <a:rPr lang="en" sz="1064" b="1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16.12%</a:t>
              </a:r>
              <a:r>
                <a:rPr lang="en" sz="1064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(237 of 1,470 employees), data on which roles, working conditions or tenure stages , etc. that actually drive that number can be used to assist with retention budget allocation.</a:t>
              </a:r>
              <a:endParaRPr sz="1064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64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HR efforts at retention can risk getting spread across the workforce instead of targeting segments where it will have the most impact.</a:t>
              </a:r>
              <a:endParaRPr sz="1064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64" name="Google Shape;6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7738" y="428625"/>
            <a:ext cx="9600" cy="42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/>
        </p:nvSpPr>
        <p:spPr>
          <a:xfrm>
            <a:off x="5095875" y="428625"/>
            <a:ext cx="3571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8C3831"/>
                </a:solidFill>
                <a:latin typeface="Lato"/>
                <a:ea typeface="Lato"/>
                <a:cs typeface="Lato"/>
                <a:sym typeface="Lato"/>
              </a:rPr>
              <a:t>Approach</a:t>
            </a:r>
            <a:endParaRPr sz="2200" b="1">
              <a:solidFill>
                <a:srgbClr val="8C383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476250" y="2476500"/>
            <a:ext cx="3905175" cy="2095500"/>
            <a:chOff x="0" y="0"/>
            <a:chExt cx="3905175" cy="2095500"/>
          </a:xfrm>
        </p:grpSpPr>
        <p:grpSp>
          <p:nvGrpSpPr>
            <p:cNvPr id="67" name="Google Shape;67;p15"/>
            <p:cNvGrpSpPr/>
            <p:nvPr/>
          </p:nvGrpSpPr>
          <p:grpSpPr>
            <a:xfrm>
              <a:off x="0" y="0"/>
              <a:ext cx="1857300" cy="952500"/>
              <a:chOff x="0" y="0"/>
              <a:chExt cx="1857300" cy="952500"/>
            </a:xfrm>
          </p:grpSpPr>
          <p:sp>
            <p:nvSpPr>
              <p:cNvPr id="68" name="Google Shape;68;p15"/>
              <p:cNvSpPr/>
              <p:nvPr/>
            </p:nvSpPr>
            <p:spPr>
              <a:xfrm>
                <a:off x="0" y="0"/>
                <a:ext cx="18573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DFBFB"/>
              </a:solidFill>
              <a:ln w="9525" cap="flat" cmpd="sng">
                <a:solidFill>
                  <a:srgbClr val="EA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0" y="0"/>
                <a:ext cx="762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9600"/>
                    </a:moveTo>
                    <a:quadBezTo>
                      <a:pt x="0" y="0"/>
                      <a:pt x="120000" y="0"/>
                    </a:quadBezTo>
                    <a:lnTo>
                      <a:pt x="120000" y="120000"/>
                    </a:lnTo>
                    <a:quadBezTo>
                      <a:pt x="0" y="120000"/>
                      <a:pt x="0" y="110400"/>
                    </a:quadBezTo>
                    <a:close/>
                  </a:path>
                </a:pathLst>
              </a:custGeom>
              <a:solidFill>
                <a:srgbClr val="8C383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 txBox="1"/>
              <p:nvPr/>
            </p:nvSpPr>
            <p:spPr>
              <a:xfrm>
                <a:off x="190500" y="0"/>
                <a:ext cx="15717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1,470</a:t>
                </a:r>
                <a:endParaRPr sz="24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888888"/>
                    </a:solidFill>
                    <a:latin typeface="Lato"/>
                    <a:ea typeface="Lato"/>
                    <a:cs typeface="Lato"/>
                    <a:sym typeface="Lato"/>
                  </a:rPr>
                  <a:t>TOTAL EMPLOYEES</a:t>
                </a:r>
                <a:endParaRPr sz="850" b="1">
                  <a:solidFill>
                    <a:srgbClr val="888888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1" name="Google Shape;71;p15"/>
            <p:cNvGrpSpPr/>
            <p:nvPr/>
          </p:nvGrpSpPr>
          <p:grpSpPr>
            <a:xfrm>
              <a:off x="2047875" y="0"/>
              <a:ext cx="1857300" cy="952500"/>
              <a:chOff x="0" y="0"/>
              <a:chExt cx="1857300" cy="952500"/>
            </a:xfrm>
          </p:grpSpPr>
          <p:sp>
            <p:nvSpPr>
              <p:cNvPr id="72" name="Google Shape;72;p15"/>
              <p:cNvSpPr/>
              <p:nvPr/>
            </p:nvSpPr>
            <p:spPr>
              <a:xfrm>
                <a:off x="0" y="0"/>
                <a:ext cx="18573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DFBFB"/>
              </a:solidFill>
              <a:ln w="9525" cap="flat" cmpd="sng">
                <a:solidFill>
                  <a:srgbClr val="EA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0" y="0"/>
                <a:ext cx="762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9600"/>
                    </a:moveTo>
                    <a:quadBezTo>
                      <a:pt x="0" y="0"/>
                      <a:pt x="120000" y="0"/>
                    </a:quadBezTo>
                    <a:lnTo>
                      <a:pt x="120000" y="120000"/>
                    </a:lnTo>
                    <a:quadBezTo>
                      <a:pt x="0" y="120000"/>
                      <a:pt x="0" y="110400"/>
                    </a:quadBezTo>
                    <a:close/>
                  </a:path>
                </a:pathLst>
              </a:custGeom>
              <a:solidFill>
                <a:srgbClr val="8C383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 txBox="1"/>
              <p:nvPr/>
            </p:nvSpPr>
            <p:spPr>
              <a:xfrm>
                <a:off x="190500" y="0"/>
                <a:ext cx="15717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237</a:t>
                </a:r>
                <a:endParaRPr sz="24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888888"/>
                    </a:solidFill>
                    <a:latin typeface="Lato"/>
                    <a:ea typeface="Lato"/>
                    <a:cs typeface="Lato"/>
                    <a:sym typeface="Lato"/>
                  </a:rPr>
                  <a:t>DEPARTED EMPLOYEES</a:t>
                </a:r>
                <a:endParaRPr sz="850" b="1">
                  <a:solidFill>
                    <a:srgbClr val="888888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5" name="Google Shape;75;p15"/>
            <p:cNvGrpSpPr/>
            <p:nvPr/>
          </p:nvGrpSpPr>
          <p:grpSpPr>
            <a:xfrm>
              <a:off x="0" y="1143000"/>
              <a:ext cx="1857300" cy="952500"/>
              <a:chOff x="0" y="0"/>
              <a:chExt cx="1857300" cy="952500"/>
            </a:xfrm>
          </p:grpSpPr>
          <p:sp>
            <p:nvSpPr>
              <p:cNvPr id="76" name="Google Shape;76;p15"/>
              <p:cNvSpPr/>
              <p:nvPr/>
            </p:nvSpPr>
            <p:spPr>
              <a:xfrm>
                <a:off x="0" y="0"/>
                <a:ext cx="18573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DFBFB"/>
              </a:solidFill>
              <a:ln w="9525" cap="flat" cmpd="sng">
                <a:solidFill>
                  <a:srgbClr val="EA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0" y="0"/>
                <a:ext cx="762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9600"/>
                    </a:moveTo>
                    <a:quadBezTo>
                      <a:pt x="0" y="0"/>
                      <a:pt x="120000" y="0"/>
                    </a:quadBezTo>
                    <a:lnTo>
                      <a:pt x="120000" y="120000"/>
                    </a:lnTo>
                    <a:quadBezTo>
                      <a:pt x="0" y="120000"/>
                      <a:pt x="0" y="110400"/>
                    </a:quadBezTo>
                    <a:close/>
                  </a:path>
                </a:pathLst>
              </a:custGeom>
              <a:solidFill>
                <a:srgbClr val="8C383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 txBox="1"/>
              <p:nvPr/>
            </p:nvSpPr>
            <p:spPr>
              <a:xfrm>
                <a:off x="190500" y="0"/>
                <a:ext cx="15717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16.12%</a:t>
                </a:r>
                <a:endParaRPr sz="24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888888"/>
                    </a:solidFill>
                    <a:latin typeface="Lato"/>
                    <a:ea typeface="Lato"/>
                    <a:cs typeface="Lato"/>
                    <a:sym typeface="Lato"/>
                  </a:rPr>
                  <a:t>ATTRITION RATE</a:t>
                </a:r>
                <a:endParaRPr sz="850" b="1">
                  <a:solidFill>
                    <a:srgbClr val="888888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9" name="Google Shape;79;p15"/>
            <p:cNvGrpSpPr/>
            <p:nvPr/>
          </p:nvGrpSpPr>
          <p:grpSpPr>
            <a:xfrm>
              <a:off x="2047875" y="1143000"/>
              <a:ext cx="1857300" cy="952500"/>
              <a:chOff x="0" y="0"/>
              <a:chExt cx="1857300" cy="952500"/>
            </a:xfrm>
          </p:grpSpPr>
          <p:sp>
            <p:nvSpPr>
              <p:cNvPr id="80" name="Google Shape;80;p15"/>
              <p:cNvSpPr/>
              <p:nvPr/>
            </p:nvSpPr>
            <p:spPr>
              <a:xfrm>
                <a:off x="0" y="0"/>
                <a:ext cx="18573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DFBFB"/>
              </a:solidFill>
              <a:ln w="9525" cap="flat" cmpd="sng">
                <a:solidFill>
                  <a:srgbClr val="EA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0" y="0"/>
                <a:ext cx="762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9600"/>
                    </a:moveTo>
                    <a:quadBezTo>
                      <a:pt x="0" y="0"/>
                      <a:pt x="120000" y="0"/>
                    </a:quadBezTo>
                    <a:lnTo>
                      <a:pt x="120000" y="120000"/>
                    </a:lnTo>
                    <a:quadBezTo>
                      <a:pt x="0" y="120000"/>
                      <a:pt x="0" y="110400"/>
                    </a:quadBezTo>
                    <a:close/>
                  </a:path>
                </a:pathLst>
              </a:custGeom>
              <a:solidFill>
                <a:srgbClr val="8C383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 txBox="1"/>
              <p:nvPr/>
            </p:nvSpPr>
            <p:spPr>
              <a:xfrm>
                <a:off x="190500" y="0"/>
                <a:ext cx="15717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7 yrs</a:t>
                </a:r>
                <a:endParaRPr sz="24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888888"/>
                    </a:solidFill>
                    <a:latin typeface="Lato"/>
                    <a:ea typeface="Lato"/>
                    <a:cs typeface="Lato"/>
                    <a:sym typeface="Lato"/>
                  </a:rPr>
                  <a:t>AVERAGE TENURE</a:t>
                </a:r>
                <a:endParaRPr sz="850" b="1">
                  <a:solidFill>
                    <a:srgbClr val="888888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3" name="Google Shape;83;p15"/>
          <p:cNvGrpSpPr/>
          <p:nvPr/>
        </p:nvGrpSpPr>
        <p:grpSpPr>
          <a:xfrm>
            <a:off x="5095875" y="1047750"/>
            <a:ext cx="3571800" cy="3476625"/>
            <a:chOff x="0" y="0"/>
            <a:chExt cx="3571800" cy="3476625"/>
          </a:xfrm>
        </p:grpSpPr>
        <p:grpSp>
          <p:nvGrpSpPr>
            <p:cNvPr id="84" name="Google Shape;84;p15"/>
            <p:cNvGrpSpPr/>
            <p:nvPr/>
          </p:nvGrpSpPr>
          <p:grpSpPr>
            <a:xfrm>
              <a:off x="0" y="0"/>
              <a:ext cx="3571800" cy="762000"/>
              <a:chOff x="0" y="0"/>
              <a:chExt cx="3571800" cy="7620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35718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FDFBFB"/>
              </a:solidFill>
              <a:ln w="9525" cap="flat" cmpd="sng">
                <a:solidFill>
                  <a:srgbClr val="EA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161925" y="209550"/>
                <a:ext cx="342900" cy="342900"/>
              </a:xfrm>
              <a:prstGeom prst="ellipse">
                <a:avLst/>
              </a:prstGeom>
              <a:solidFill>
                <a:srgbClr val="F4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 txBox="1"/>
              <p:nvPr/>
            </p:nvSpPr>
            <p:spPr>
              <a:xfrm>
                <a:off x="161925" y="20955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01</a:t>
                </a:r>
                <a:endParaRPr sz="12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15"/>
              <p:cNvSpPr txBox="1"/>
              <p:nvPr/>
            </p:nvSpPr>
            <p:spPr>
              <a:xfrm>
                <a:off x="666750" y="95250"/>
                <a:ext cx="2762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Exploratory Data Analysis</a:t>
                </a:r>
                <a:endParaRPr sz="12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Lato"/>
                    <a:ea typeface="Lato"/>
                    <a:cs typeface="Lato"/>
                    <a:sym typeface="Lato"/>
                  </a:rPr>
                  <a:t>Identifying attrition outliers and core trends across roles.</a:t>
                </a:r>
                <a:endParaRPr sz="1000">
                  <a:solidFill>
                    <a:srgbClr val="777777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9" name="Google Shape;89;p15"/>
            <p:cNvGrpSpPr/>
            <p:nvPr/>
          </p:nvGrpSpPr>
          <p:grpSpPr>
            <a:xfrm>
              <a:off x="0" y="904875"/>
              <a:ext cx="3571800" cy="762000"/>
              <a:chOff x="0" y="0"/>
              <a:chExt cx="3571800" cy="762000"/>
            </a:xfrm>
          </p:grpSpPr>
          <p:sp>
            <p:nvSpPr>
              <p:cNvPr id="90" name="Google Shape;90;p15"/>
              <p:cNvSpPr/>
              <p:nvPr/>
            </p:nvSpPr>
            <p:spPr>
              <a:xfrm>
                <a:off x="0" y="0"/>
                <a:ext cx="35718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FDFBFB"/>
              </a:solidFill>
              <a:ln w="9525" cap="flat" cmpd="sng">
                <a:solidFill>
                  <a:srgbClr val="EA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161925" y="209550"/>
                <a:ext cx="342900" cy="342900"/>
              </a:xfrm>
              <a:prstGeom prst="ellipse">
                <a:avLst/>
              </a:prstGeom>
              <a:solidFill>
                <a:srgbClr val="F4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161925" y="20955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02</a:t>
                </a:r>
                <a:endParaRPr sz="12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15"/>
              <p:cNvSpPr txBox="1"/>
              <p:nvPr/>
            </p:nvSpPr>
            <p:spPr>
              <a:xfrm>
                <a:off x="666750" y="95250"/>
                <a:ext cx="2762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Star Schema Model</a:t>
                </a:r>
                <a:endParaRPr sz="12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Lato"/>
                    <a:ea typeface="Lato"/>
                    <a:cs typeface="Lato"/>
                    <a:sym typeface="Lato"/>
                  </a:rPr>
                  <a:t>Modeling the database.</a:t>
                </a:r>
                <a:endParaRPr sz="1000">
                  <a:solidFill>
                    <a:srgbClr val="777777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4" name="Google Shape;94;p15"/>
            <p:cNvGrpSpPr/>
            <p:nvPr/>
          </p:nvGrpSpPr>
          <p:grpSpPr>
            <a:xfrm>
              <a:off x="0" y="1809750"/>
              <a:ext cx="3571800" cy="762000"/>
              <a:chOff x="0" y="0"/>
              <a:chExt cx="3571800" cy="762000"/>
            </a:xfrm>
          </p:grpSpPr>
          <p:sp>
            <p:nvSpPr>
              <p:cNvPr id="95" name="Google Shape;95;p15"/>
              <p:cNvSpPr/>
              <p:nvPr/>
            </p:nvSpPr>
            <p:spPr>
              <a:xfrm>
                <a:off x="0" y="0"/>
                <a:ext cx="35718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FDFBFB"/>
              </a:solidFill>
              <a:ln w="9525" cap="flat" cmpd="sng">
                <a:solidFill>
                  <a:srgbClr val="EA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161925" y="209550"/>
                <a:ext cx="342900" cy="342900"/>
              </a:xfrm>
              <a:prstGeom prst="ellipse">
                <a:avLst/>
              </a:prstGeom>
              <a:solidFill>
                <a:srgbClr val="F4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 txBox="1"/>
              <p:nvPr/>
            </p:nvSpPr>
            <p:spPr>
              <a:xfrm>
                <a:off x="161925" y="20955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03</a:t>
                </a:r>
                <a:endParaRPr sz="12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" name="Google Shape;98;p15"/>
              <p:cNvSpPr txBox="1"/>
              <p:nvPr/>
            </p:nvSpPr>
            <p:spPr>
              <a:xfrm>
                <a:off x="666750" y="209550"/>
                <a:ext cx="27624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DAX Measures Development</a:t>
                </a:r>
                <a:endParaRPr sz="12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777777"/>
                    </a:solidFill>
                    <a:latin typeface="Lato"/>
                    <a:ea typeface="Lato"/>
                    <a:cs typeface="Lato"/>
                    <a:sym typeface="Lato"/>
                  </a:rPr>
                  <a:t>Calculating Attrition Rate, Average Tenure, Current Employees, Departed Employees, Total Employees</a:t>
                </a:r>
                <a:endParaRPr sz="950">
                  <a:solidFill>
                    <a:srgbClr val="777777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777777"/>
                    </a:solidFill>
                    <a:latin typeface="Lato"/>
                    <a:ea typeface="Lato"/>
                    <a:cs typeface="Lato"/>
                    <a:sym typeface="Lato"/>
                  </a:rPr>
                  <a:t>And Overtime %.</a:t>
                </a:r>
                <a:endParaRPr sz="950">
                  <a:solidFill>
                    <a:srgbClr val="777777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50">
                  <a:solidFill>
                    <a:srgbClr val="777777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9" name="Google Shape;99;p15"/>
            <p:cNvGrpSpPr/>
            <p:nvPr/>
          </p:nvGrpSpPr>
          <p:grpSpPr>
            <a:xfrm>
              <a:off x="0" y="2714625"/>
              <a:ext cx="3571800" cy="762000"/>
              <a:chOff x="0" y="0"/>
              <a:chExt cx="3571800" cy="762000"/>
            </a:xfrm>
          </p:grpSpPr>
          <p:sp>
            <p:nvSpPr>
              <p:cNvPr id="100" name="Google Shape;100;p15"/>
              <p:cNvSpPr/>
              <p:nvPr/>
            </p:nvSpPr>
            <p:spPr>
              <a:xfrm>
                <a:off x="0" y="0"/>
                <a:ext cx="35718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FDFBFB"/>
              </a:solidFill>
              <a:ln w="9525" cap="flat" cmpd="sng">
                <a:solidFill>
                  <a:srgbClr val="EA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161925" y="209550"/>
                <a:ext cx="342900" cy="342900"/>
              </a:xfrm>
              <a:prstGeom prst="ellipse">
                <a:avLst/>
              </a:prstGeom>
              <a:solidFill>
                <a:srgbClr val="F4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 txBox="1"/>
              <p:nvPr/>
            </p:nvSpPr>
            <p:spPr>
              <a:xfrm>
                <a:off x="161925" y="20955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04</a:t>
                </a:r>
                <a:endParaRPr sz="12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" name="Google Shape;103;p15"/>
              <p:cNvSpPr txBox="1"/>
              <p:nvPr/>
            </p:nvSpPr>
            <p:spPr>
              <a:xfrm>
                <a:off x="666750" y="95250"/>
                <a:ext cx="2762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Interactive Power BI Dashboard</a:t>
                </a:r>
                <a:endParaRPr sz="12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Lato"/>
                    <a:ea typeface="Lato"/>
                    <a:cs typeface="Lato"/>
                    <a:sym typeface="Lato"/>
                  </a:rPr>
                  <a:t>Providing interactive visual tools for decision-making.</a:t>
                </a:r>
                <a:endParaRPr sz="1000">
                  <a:solidFill>
                    <a:srgbClr val="777777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6"/>
          <p:cNvGrpSpPr/>
          <p:nvPr/>
        </p:nvGrpSpPr>
        <p:grpSpPr>
          <a:xfrm>
            <a:off x="234600" y="997575"/>
            <a:ext cx="4286400" cy="3865800"/>
            <a:chOff x="0" y="0"/>
            <a:chExt cx="4286400" cy="3865800"/>
          </a:xfrm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4286400" cy="3865800"/>
            </a:xfrm>
            <a:prstGeom prst="roundRect">
              <a:avLst>
                <a:gd name="adj" fmla="val 5926"/>
              </a:avLst>
            </a:prstGeom>
            <a:solidFill>
              <a:srgbClr val="FDFBFB"/>
            </a:solidFill>
            <a:ln w="9525" cap="flat" cmpd="sng">
              <a:solidFill>
                <a:srgbClr val="EA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0" y="85175"/>
              <a:ext cx="69300" cy="37332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" name="Google Shape;111;p16"/>
          <p:cNvSpPr/>
          <p:nvPr/>
        </p:nvSpPr>
        <p:spPr>
          <a:xfrm>
            <a:off x="320100" y="180425"/>
            <a:ext cx="2400000" cy="459600"/>
          </a:xfrm>
          <a:prstGeom prst="rect">
            <a:avLst/>
          </a:prstGeom>
          <a:solidFill>
            <a:srgbClr val="8C38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2320"/>
              </a:buClr>
              <a:buSzPts val="3000"/>
              <a:buFont typeface="Cambria"/>
              <a:buNone/>
            </a:pPr>
            <a:r>
              <a:rPr lang="en" sz="21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Key Findings</a:t>
            </a:r>
            <a:endParaRPr sz="21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456900" y="1720475"/>
            <a:ext cx="36096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" sz="800" b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Sales Representative</a:t>
            </a: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role is a massive outlier with an attrition rate of nearly 40% </a:t>
            </a:r>
            <a:r>
              <a:rPr lang="en" sz="800" b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(39.76%)</a:t>
            </a: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, it is followed by Laboratory Technicians (23.94%) and Human Resources roles (23.08%) which also experience higher-than-average turnover. On the other hand, senior roles like Research Directors (2.50%) and Managers (4.90%) have the lowest attrition rates.</a:t>
            </a:r>
            <a:b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Attrition rate of Sales Representatives is a true statistical outlier with z-score of 2.0.</a:t>
            </a:r>
            <a:endParaRPr sz="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Char char="●"/>
            </a:pPr>
            <a:r>
              <a:rPr lang="en" sz="800" b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Sales Representatives</a:t>
            </a: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have a Job Satisfaction of</a:t>
            </a:r>
            <a:r>
              <a:rPr lang="en" sz="800" b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2.73</a:t>
            </a: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, almost equalling the total average across all job roles, indicating Job Satisfaction is not a primary driver of high turnover of Sales Representatives.</a:t>
            </a:r>
            <a:endParaRPr sz="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95959"/>
              </a:buClr>
              <a:buSzPts val="800"/>
              <a:buFont typeface="Calibri"/>
              <a:buChar char="●"/>
            </a:pPr>
            <a:r>
              <a:rPr lang="en" sz="800" b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Average Monthly Salary </a:t>
            </a: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between job roles experience a </a:t>
            </a:r>
            <a:r>
              <a:rPr lang="en" sz="800" b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strong negative correlation</a:t>
            </a: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with </a:t>
            </a:r>
            <a:r>
              <a:rPr lang="en" sz="800" b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attrition rate </a:t>
            </a: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(correlation coefficient of -0.76), with higher salaries seeing lower attrition rates, </a:t>
            </a:r>
            <a:r>
              <a:rPr lang="en" sz="800" b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Sales Representatives</a:t>
            </a: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have the lowest salary across all job roles, suggesting that </a:t>
            </a:r>
            <a:r>
              <a:rPr lang="en" sz="800" b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Monthly Salary</a:t>
            </a:r>
            <a:r>
              <a:rPr lang="en" sz="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could be a primary driver for the high turnover of </a:t>
            </a:r>
            <a:r>
              <a:rPr lang="en" sz="800" b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Sales Representatives</a:t>
            </a:r>
            <a:endParaRPr sz="800" b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3" name="Google Shape;113;p16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175" y="558538"/>
            <a:ext cx="3856200" cy="2014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175" y="2687950"/>
            <a:ext cx="3856201" cy="2034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/>
          <p:nvPr/>
        </p:nvSpPr>
        <p:spPr>
          <a:xfrm>
            <a:off x="839925" y="1187650"/>
            <a:ext cx="34452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320"/>
              </a:buClr>
              <a:buSzPts val="3000"/>
              <a:buFont typeface="Cambria"/>
              <a:buNone/>
            </a:pPr>
            <a:r>
              <a:rPr lang="en" sz="1100">
                <a:solidFill>
                  <a:srgbClr val="8C3831"/>
                </a:solidFill>
                <a:latin typeface="Lato"/>
                <a:ea typeface="Lato"/>
                <a:cs typeface="Lato"/>
                <a:sym typeface="Lato"/>
              </a:rPr>
              <a:t>Biggest Driver:</a:t>
            </a:r>
            <a:endParaRPr sz="1100">
              <a:solidFill>
                <a:srgbClr val="8C383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320"/>
              </a:buClr>
              <a:buSzPts val="3000"/>
              <a:buFont typeface="Cambria"/>
              <a:buNone/>
            </a:pPr>
            <a:r>
              <a:rPr lang="en" sz="1100" b="1">
                <a:solidFill>
                  <a:srgbClr val="8C3831"/>
                </a:solidFill>
                <a:latin typeface="Lato"/>
                <a:ea typeface="Lato"/>
                <a:cs typeface="Lato"/>
                <a:sym typeface="Lato"/>
              </a:rPr>
              <a:t>Attrition Rate of Sales Representatives</a:t>
            </a:r>
            <a:endParaRPr sz="1100" b="1" i="0" u="none" strike="noStrike" cap="none">
              <a:solidFill>
                <a:srgbClr val="8C383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320100" y="180425"/>
            <a:ext cx="2400000" cy="459600"/>
          </a:xfrm>
          <a:prstGeom prst="rect">
            <a:avLst/>
          </a:prstGeom>
          <a:solidFill>
            <a:srgbClr val="8C38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2320"/>
              </a:buClr>
              <a:buSzPts val="3000"/>
              <a:buFont typeface="Cambria"/>
              <a:buNone/>
            </a:pPr>
            <a:r>
              <a:rPr lang="en" sz="21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Key Findings</a:t>
            </a:r>
            <a:endParaRPr sz="21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314325" y="1197194"/>
            <a:ext cx="4286400" cy="968634"/>
            <a:chOff x="0" y="0"/>
            <a:chExt cx="4286400" cy="1190700"/>
          </a:xfrm>
        </p:grpSpPr>
        <p:sp>
          <p:nvSpPr>
            <p:cNvPr id="122" name="Google Shape;122;p17"/>
            <p:cNvSpPr/>
            <p:nvPr/>
          </p:nvSpPr>
          <p:spPr>
            <a:xfrm>
              <a:off x="0" y="0"/>
              <a:ext cx="4286400" cy="1190700"/>
            </a:xfrm>
            <a:prstGeom prst="roundRect">
              <a:avLst>
                <a:gd name="adj" fmla="val 4800"/>
              </a:avLst>
            </a:prstGeom>
            <a:solidFill>
              <a:srgbClr val="FDFBFB"/>
            </a:solidFill>
            <a:ln w="9525" cap="flat" cmpd="sng">
              <a:solidFill>
                <a:srgbClr val="EA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0" y="0"/>
              <a:ext cx="57300" cy="11907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190500" y="0"/>
              <a:ext cx="3905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8C3831"/>
                  </a:solidFill>
                  <a:latin typeface="Cambria"/>
                  <a:ea typeface="Cambria"/>
                  <a:cs typeface="Cambria"/>
                  <a:sym typeface="Cambria"/>
                </a:rPr>
                <a:t>Overtime</a:t>
              </a:r>
              <a:endParaRPr sz="1300" b="1">
                <a:solidFill>
                  <a:srgbClr val="8C383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Employees who work overtime (</a:t>
              </a:r>
              <a:r>
                <a:rPr lang="en" sz="1050" b="1">
                  <a:solidFill>
                    <a:srgbClr val="8C3831"/>
                  </a:solidFill>
                  <a:latin typeface="Calibri"/>
                  <a:ea typeface="Calibri"/>
                  <a:cs typeface="Calibri"/>
                  <a:sym typeface="Calibri"/>
                </a:rPr>
                <a:t>30.53%</a:t>
              </a:r>
              <a:r>
                <a:rPr lang="en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attrition rate) are </a:t>
              </a:r>
              <a:r>
                <a:rPr lang="en" sz="1050" b="1">
                  <a:solidFill>
                    <a:srgbClr val="8C3831"/>
                  </a:solidFill>
                  <a:latin typeface="Calibri"/>
                  <a:ea typeface="Calibri"/>
                  <a:cs typeface="Calibri"/>
                  <a:sym typeface="Calibri"/>
                </a:rPr>
                <a:t>2.9</a:t>
              </a:r>
              <a:r>
                <a:rPr lang="en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times more likely to leave compared to those who do not (</a:t>
              </a:r>
              <a:r>
                <a:rPr lang="en" sz="1050" b="1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10.44%</a:t>
              </a:r>
              <a:r>
                <a:rPr lang="en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).</a:t>
              </a:r>
              <a:endParaRPr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314325" y="2282035"/>
            <a:ext cx="4286400" cy="968634"/>
            <a:chOff x="0" y="0"/>
            <a:chExt cx="4286400" cy="1190700"/>
          </a:xfrm>
        </p:grpSpPr>
        <p:sp>
          <p:nvSpPr>
            <p:cNvPr id="126" name="Google Shape;126;p17"/>
            <p:cNvSpPr/>
            <p:nvPr/>
          </p:nvSpPr>
          <p:spPr>
            <a:xfrm>
              <a:off x="0" y="0"/>
              <a:ext cx="4286400" cy="1190700"/>
            </a:xfrm>
            <a:prstGeom prst="roundRect">
              <a:avLst>
                <a:gd name="adj" fmla="val 4800"/>
              </a:avLst>
            </a:prstGeom>
            <a:solidFill>
              <a:srgbClr val="FDFBFB"/>
            </a:solidFill>
            <a:ln w="9525" cap="flat" cmpd="sng">
              <a:solidFill>
                <a:srgbClr val="EA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0" y="0"/>
              <a:ext cx="57300" cy="11907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190500" y="0"/>
              <a:ext cx="3905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8C3831"/>
                  </a:solidFill>
                  <a:latin typeface="Cambria"/>
                  <a:ea typeface="Cambria"/>
                  <a:cs typeface="Cambria"/>
                  <a:sym typeface="Cambria"/>
                </a:rPr>
                <a:t>Early Tenure Employees</a:t>
              </a:r>
              <a:endParaRPr sz="1300" b="1">
                <a:solidFill>
                  <a:srgbClr val="8C383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Attrition is </a:t>
              </a:r>
              <a:r>
                <a:rPr lang="en" sz="1050" b="1">
                  <a:solidFill>
                    <a:srgbClr val="8C3831"/>
                  </a:solidFill>
                  <a:latin typeface="Calibri"/>
                  <a:ea typeface="Calibri"/>
                  <a:cs typeface="Calibri"/>
                  <a:sym typeface="Calibri"/>
                </a:rPr>
                <a:t>front-loaded</a:t>
              </a:r>
              <a:r>
                <a:rPr lang="en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, with an attrition rate of </a:t>
              </a:r>
              <a:r>
                <a:rPr lang="en" sz="1050" b="1">
                  <a:solidFill>
                    <a:srgbClr val="8C3831"/>
                  </a:solidFill>
                  <a:latin typeface="Calibri"/>
                  <a:ea typeface="Calibri"/>
                  <a:cs typeface="Calibri"/>
                  <a:sym typeface="Calibri"/>
                </a:rPr>
                <a:t>29.82%</a:t>
              </a:r>
              <a:r>
                <a:rPr lang="en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in an employee's first 0–2 years, steadily declining to </a:t>
              </a:r>
              <a:r>
                <a:rPr lang="en" sz="1050" b="1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10.38%</a:t>
              </a:r>
              <a:r>
                <a:rPr lang="en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for the 10+ years tenure group.</a:t>
              </a:r>
              <a:endParaRPr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7"/>
          <p:cNvGrpSpPr/>
          <p:nvPr/>
        </p:nvGrpSpPr>
        <p:grpSpPr>
          <a:xfrm>
            <a:off x="314325" y="3366877"/>
            <a:ext cx="4286400" cy="968634"/>
            <a:chOff x="0" y="0"/>
            <a:chExt cx="4286400" cy="1190700"/>
          </a:xfrm>
        </p:grpSpPr>
        <p:sp>
          <p:nvSpPr>
            <p:cNvPr id="130" name="Google Shape;130;p17"/>
            <p:cNvSpPr/>
            <p:nvPr/>
          </p:nvSpPr>
          <p:spPr>
            <a:xfrm>
              <a:off x="0" y="0"/>
              <a:ext cx="4286400" cy="1190700"/>
            </a:xfrm>
            <a:prstGeom prst="roundRect">
              <a:avLst>
                <a:gd name="adj" fmla="val 4800"/>
              </a:avLst>
            </a:prstGeom>
            <a:solidFill>
              <a:srgbClr val="FDFBFB"/>
            </a:solidFill>
            <a:ln w="9525" cap="flat" cmpd="sng">
              <a:solidFill>
                <a:srgbClr val="EA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0" y="0"/>
              <a:ext cx="57300" cy="11907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190500" y="0"/>
              <a:ext cx="3905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8C3831"/>
                  </a:solidFill>
                  <a:latin typeface="Cambria"/>
                  <a:ea typeface="Cambria"/>
                  <a:cs typeface="Cambria"/>
                  <a:sym typeface="Cambria"/>
                </a:rPr>
                <a:t>Frequency of Business Travel</a:t>
              </a:r>
              <a:endParaRPr sz="1300" b="1">
                <a:solidFill>
                  <a:srgbClr val="8C383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Risk of attrition rises consistently with travel frequency, sitting at </a:t>
              </a:r>
              <a:r>
                <a:rPr lang="en" sz="1050" b="1">
                  <a:solidFill>
                    <a:srgbClr val="8C3831"/>
                  </a:solidFill>
                  <a:latin typeface="Calibri"/>
                  <a:ea typeface="Calibri"/>
                  <a:cs typeface="Calibri"/>
                  <a:sym typeface="Calibri"/>
                </a:rPr>
                <a:t>24.91%</a:t>
              </a:r>
              <a:r>
                <a:rPr lang="en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for frequent travelers, 14.96% for rare travelers, and 8.00% for non-travelers.</a:t>
              </a:r>
              <a:endParaRPr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3" name="Google Shape;133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2725" y="2753175"/>
            <a:ext cx="3574249" cy="189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7737" y="520950"/>
            <a:ext cx="2644226" cy="198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320100" y="180425"/>
            <a:ext cx="2400000" cy="459600"/>
          </a:xfrm>
          <a:prstGeom prst="rect">
            <a:avLst/>
          </a:prstGeom>
          <a:solidFill>
            <a:srgbClr val="8C38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2320"/>
              </a:buClr>
              <a:buSzPts val="3000"/>
              <a:buFont typeface="Cambria"/>
              <a:buNone/>
            </a:pPr>
            <a:r>
              <a:rPr lang="en" sz="21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Recommendations</a:t>
            </a:r>
            <a:endParaRPr sz="21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0" name="Google Shape;140;p18"/>
          <p:cNvGrpSpPr/>
          <p:nvPr/>
        </p:nvGrpSpPr>
        <p:grpSpPr>
          <a:xfrm>
            <a:off x="381000" y="1047750"/>
            <a:ext cx="4095900" cy="1714500"/>
            <a:chOff x="0" y="0"/>
            <a:chExt cx="4095900" cy="1714500"/>
          </a:xfrm>
        </p:grpSpPr>
        <p:sp>
          <p:nvSpPr>
            <p:cNvPr id="141" name="Google Shape;141;p18"/>
            <p:cNvSpPr/>
            <p:nvPr/>
          </p:nvSpPr>
          <p:spPr>
            <a:xfrm>
              <a:off x="0" y="0"/>
              <a:ext cx="4095900" cy="1714500"/>
            </a:xfrm>
            <a:prstGeom prst="roundRect">
              <a:avLst>
                <a:gd name="adj" fmla="val 4444"/>
              </a:avLst>
            </a:prstGeom>
            <a:solidFill>
              <a:srgbClr val="FDFBFB"/>
            </a:solidFill>
            <a:ln w="9525" cap="flat" cmpd="sng">
              <a:solidFill>
                <a:srgbClr val="EA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0" y="0"/>
              <a:ext cx="57300" cy="17145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" name="Google Shape;143;p18"/>
            <p:cNvGrpSpPr/>
            <p:nvPr/>
          </p:nvGrpSpPr>
          <p:grpSpPr>
            <a:xfrm>
              <a:off x="190500" y="142875"/>
              <a:ext cx="2667000" cy="381000"/>
              <a:chOff x="0" y="0"/>
              <a:chExt cx="2667000" cy="381000"/>
            </a:xfrm>
          </p:grpSpPr>
          <p:sp>
            <p:nvSpPr>
              <p:cNvPr id="144" name="Google Shape;144;p18"/>
              <p:cNvSpPr/>
              <p:nvPr/>
            </p:nvSpPr>
            <p:spPr>
              <a:xfrm>
                <a:off x="0" y="0"/>
                <a:ext cx="2667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8"/>
              <p:cNvSpPr txBox="1"/>
              <p:nvPr/>
            </p:nvSpPr>
            <p:spPr>
              <a:xfrm>
                <a:off x="0" y="0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Sales Representative outlier</a:t>
                </a:r>
                <a:endParaRPr sz="14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46" name="Google Shape;146;p18"/>
            <p:cNvSpPr/>
            <p:nvPr/>
          </p:nvSpPr>
          <p:spPr>
            <a:xfrm>
              <a:off x="2952750" y="1905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" name="Google Shape;147;p18"/>
            <p:cNvGrpSpPr/>
            <p:nvPr/>
          </p:nvGrpSpPr>
          <p:grpSpPr>
            <a:xfrm>
              <a:off x="2952750" y="190500"/>
              <a:ext cx="952500" cy="266700"/>
              <a:chOff x="0" y="0"/>
              <a:chExt cx="952500" cy="266700"/>
            </a:xfrm>
          </p:grpSpPr>
          <p:sp>
            <p:nvSpPr>
              <p:cNvPr id="148" name="Google Shape;148;p18"/>
              <p:cNvSpPr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Highest</a:t>
                </a:r>
                <a:endParaRPr sz="10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50" name="Google Shape;150;p18"/>
            <p:cNvGrpSpPr/>
            <p:nvPr/>
          </p:nvGrpSpPr>
          <p:grpSpPr>
            <a:xfrm>
              <a:off x="190500" y="619125"/>
              <a:ext cx="3714900" cy="952500"/>
              <a:chOff x="0" y="0"/>
              <a:chExt cx="3714900" cy="952500"/>
            </a:xfrm>
          </p:grpSpPr>
          <p:sp>
            <p:nvSpPr>
              <p:cNvPr id="151" name="Google Shape;151;p18"/>
              <p:cNvSpPr/>
              <p:nvPr/>
            </p:nvSpPr>
            <p:spPr>
              <a:xfrm>
                <a:off x="0" y="0"/>
                <a:ext cx="3714900" cy="952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8"/>
              <p:cNvSpPr txBox="1"/>
              <p:nvPr/>
            </p:nvSpPr>
            <p:spPr>
              <a:xfrm>
                <a:off x="0" y="0"/>
                <a:ext cx="3714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Review monthly salary for Sales Representatives and build a structured promotion path so employees see a career growth path before they enter the 3-5 years tenure group.</a:t>
                </a:r>
                <a:endParaRPr sz="11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3" name="Google Shape;153;p18"/>
          <p:cNvGrpSpPr/>
          <p:nvPr/>
        </p:nvGrpSpPr>
        <p:grpSpPr>
          <a:xfrm>
            <a:off x="4667250" y="1047750"/>
            <a:ext cx="4095900" cy="1714500"/>
            <a:chOff x="0" y="0"/>
            <a:chExt cx="4095900" cy="1714500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4095900" cy="1714500"/>
            </a:xfrm>
            <a:prstGeom prst="roundRect">
              <a:avLst>
                <a:gd name="adj" fmla="val 4444"/>
              </a:avLst>
            </a:prstGeom>
            <a:solidFill>
              <a:srgbClr val="FDFBFB"/>
            </a:solidFill>
            <a:ln w="9525" cap="flat" cmpd="sng">
              <a:solidFill>
                <a:srgbClr val="EA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0" y="0"/>
              <a:ext cx="57300" cy="17145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18"/>
            <p:cNvGrpSpPr/>
            <p:nvPr/>
          </p:nvGrpSpPr>
          <p:grpSpPr>
            <a:xfrm>
              <a:off x="190500" y="142875"/>
              <a:ext cx="2667000" cy="381000"/>
              <a:chOff x="0" y="0"/>
              <a:chExt cx="2667000" cy="381000"/>
            </a:xfrm>
          </p:grpSpPr>
          <p:sp>
            <p:nvSpPr>
              <p:cNvPr id="157" name="Google Shape;157;p18"/>
              <p:cNvSpPr/>
              <p:nvPr/>
            </p:nvSpPr>
            <p:spPr>
              <a:xfrm>
                <a:off x="0" y="0"/>
                <a:ext cx="2667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8"/>
              <p:cNvSpPr txBox="1"/>
              <p:nvPr/>
            </p:nvSpPr>
            <p:spPr>
              <a:xfrm>
                <a:off x="0" y="0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Overtime</a:t>
                </a:r>
                <a:endParaRPr sz="14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59" name="Google Shape;159;p18"/>
            <p:cNvSpPr/>
            <p:nvPr/>
          </p:nvSpPr>
          <p:spPr>
            <a:xfrm>
              <a:off x="2952750" y="1905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4EDE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" name="Google Shape;160;p18"/>
            <p:cNvGrpSpPr/>
            <p:nvPr/>
          </p:nvGrpSpPr>
          <p:grpSpPr>
            <a:xfrm>
              <a:off x="2952750" y="190500"/>
              <a:ext cx="952500" cy="266700"/>
              <a:chOff x="0" y="0"/>
              <a:chExt cx="952500" cy="266700"/>
            </a:xfrm>
          </p:grpSpPr>
          <p:sp>
            <p:nvSpPr>
              <p:cNvPr id="161" name="Google Shape;161;p18"/>
              <p:cNvSpPr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High</a:t>
                </a:r>
                <a:endParaRPr sz="10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63" name="Google Shape;163;p18"/>
            <p:cNvGrpSpPr/>
            <p:nvPr/>
          </p:nvGrpSpPr>
          <p:grpSpPr>
            <a:xfrm>
              <a:off x="190500" y="619125"/>
              <a:ext cx="3714900" cy="952500"/>
              <a:chOff x="0" y="0"/>
              <a:chExt cx="3714900" cy="952500"/>
            </a:xfrm>
          </p:grpSpPr>
          <p:sp>
            <p:nvSpPr>
              <p:cNvPr id="164" name="Google Shape;164;p18"/>
              <p:cNvSpPr/>
              <p:nvPr/>
            </p:nvSpPr>
            <p:spPr>
              <a:xfrm>
                <a:off x="0" y="0"/>
                <a:ext cx="3714900" cy="952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8"/>
              <p:cNvSpPr txBox="1"/>
              <p:nvPr/>
            </p:nvSpPr>
            <p:spPr>
              <a:xfrm>
                <a:off x="0" y="0"/>
                <a:ext cx="3714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Check the distribution of workload in teams which contribute a lot of overtime hours, and check the possibility of balancing workload with employees who do not contribute overtime hours.</a:t>
                </a:r>
                <a:endParaRPr sz="11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" name="Google Shape;166;p18"/>
          <p:cNvGrpSpPr/>
          <p:nvPr/>
        </p:nvGrpSpPr>
        <p:grpSpPr>
          <a:xfrm>
            <a:off x="381000" y="2952750"/>
            <a:ext cx="4095900" cy="1714500"/>
            <a:chOff x="0" y="0"/>
            <a:chExt cx="4095900" cy="1714500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4095900" cy="1714500"/>
            </a:xfrm>
            <a:prstGeom prst="roundRect">
              <a:avLst>
                <a:gd name="adj" fmla="val 4444"/>
              </a:avLst>
            </a:prstGeom>
            <a:solidFill>
              <a:srgbClr val="FDFBFB"/>
            </a:solidFill>
            <a:ln w="9525" cap="flat" cmpd="sng">
              <a:solidFill>
                <a:srgbClr val="EA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0" y="0"/>
              <a:ext cx="57300" cy="17145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" name="Google Shape;169;p18"/>
            <p:cNvGrpSpPr/>
            <p:nvPr/>
          </p:nvGrpSpPr>
          <p:grpSpPr>
            <a:xfrm>
              <a:off x="190500" y="142875"/>
              <a:ext cx="2667000" cy="381000"/>
              <a:chOff x="0" y="0"/>
              <a:chExt cx="2667000" cy="381000"/>
            </a:xfrm>
          </p:grpSpPr>
          <p:sp>
            <p:nvSpPr>
              <p:cNvPr id="170" name="Google Shape;170;p18"/>
              <p:cNvSpPr/>
              <p:nvPr/>
            </p:nvSpPr>
            <p:spPr>
              <a:xfrm>
                <a:off x="0" y="0"/>
                <a:ext cx="2667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8"/>
              <p:cNvSpPr txBox="1"/>
              <p:nvPr/>
            </p:nvSpPr>
            <p:spPr>
              <a:xfrm>
                <a:off x="0" y="0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Early tenure (0–2 yrs)</a:t>
                </a:r>
                <a:endParaRPr sz="14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72" name="Google Shape;172;p18"/>
            <p:cNvSpPr/>
            <p:nvPr/>
          </p:nvSpPr>
          <p:spPr>
            <a:xfrm>
              <a:off x="2952750" y="1905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8"/>
            <p:cNvGrpSpPr/>
            <p:nvPr/>
          </p:nvGrpSpPr>
          <p:grpSpPr>
            <a:xfrm>
              <a:off x="2952750" y="190500"/>
              <a:ext cx="952500" cy="266700"/>
              <a:chOff x="0" y="0"/>
              <a:chExt cx="952500" cy="266700"/>
            </a:xfrm>
          </p:grpSpPr>
          <p:sp>
            <p:nvSpPr>
              <p:cNvPr id="174" name="Google Shape;174;p18"/>
              <p:cNvSpPr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7F7F7F"/>
                    </a:solidFill>
                    <a:latin typeface="Lato"/>
                    <a:ea typeface="Lato"/>
                    <a:cs typeface="Lato"/>
                    <a:sym typeface="Lato"/>
                  </a:rPr>
                  <a:t>Medium</a:t>
                </a:r>
                <a:endParaRPr sz="10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76" name="Google Shape;176;p18"/>
            <p:cNvGrpSpPr/>
            <p:nvPr/>
          </p:nvGrpSpPr>
          <p:grpSpPr>
            <a:xfrm>
              <a:off x="190500" y="619125"/>
              <a:ext cx="3714900" cy="952500"/>
              <a:chOff x="0" y="0"/>
              <a:chExt cx="3714900" cy="952500"/>
            </a:xfrm>
          </p:grpSpPr>
          <p:sp>
            <p:nvSpPr>
              <p:cNvPr id="177" name="Google Shape;177;p18"/>
              <p:cNvSpPr/>
              <p:nvPr/>
            </p:nvSpPr>
            <p:spPr>
              <a:xfrm>
                <a:off x="0" y="0"/>
                <a:ext cx="3714900" cy="952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8"/>
              <p:cNvSpPr txBox="1"/>
              <p:nvPr/>
            </p:nvSpPr>
            <p:spPr>
              <a:xfrm>
                <a:off x="0" y="0"/>
                <a:ext cx="3714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Review current onboarding process, ensure that new hires have sufficient support and mentorship to get them through the highest risk of attrition window.</a:t>
                </a:r>
                <a:endParaRPr sz="11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9" name="Google Shape;179;p18"/>
          <p:cNvGrpSpPr/>
          <p:nvPr/>
        </p:nvGrpSpPr>
        <p:grpSpPr>
          <a:xfrm>
            <a:off x="4667250" y="2952750"/>
            <a:ext cx="4095900" cy="1714500"/>
            <a:chOff x="0" y="0"/>
            <a:chExt cx="4095900" cy="1714500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0"/>
              <a:ext cx="4095900" cy="1714500"/>
            </a:xfrm>
            <a:prstGeom prst="roundRect">
              <a:avLst>
                <a:gd name="adj" fmla="val 4444"/>
              </a:avLst>
            </a:prstGeom>
            <a:solidFill>
              <a:srgbClr val="FDFBFB"/>
            </a:solidFill>
            <a:ln w="9525" cap="flat" cmpd="sng">
              <a:solidFill>
                <a:srgbClr val="EA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0"/>
              <a:ext cx="57300" cy="17145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18"/>
            <p:cNvGrpSpPr/>
            <p:nvPr/>
          </p:nvGrpSpPr>
          <p:grpSpPr>
            <a:xfrm>
              <a:off x="190500" y="142875"/>
              <a:ext cx="2667000" cy="381000"/>
              <a:chOff x="0" y="0"/>
              <a:chExt cx="2667000" cy="381000"/>
            </a:xfrm>
          </p:grpSpPr>
          <p:sp>
            <p:nvSpPr>
              <p:cNvPr id="183" name="Google Shape;183;p18"/>
              <p:cNvSpPr/>
              <p:nvPr/>
            </p:nvSpPr>
            <p:spPr>
              <a:xfrm>
                <a:off x="0" y="0"/>
                <a:ext cx="2667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8"/>
              <p:cNvSpPr txBox="1"/>
              <p:nvPr/>
            </p:nvSpPr>
            <p:spPr>
              <a:xfrm>
                <a:off x="0" y="0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8C3831"/>
                    </a:solidFill>
                    <a:latin typeface="Lato"/>
                    <a:ea typeface="Lato"/>
                    <a:cs typeface="Lato"/>
                    <a:sym typeface="Lato"/>
                  </a:rPr>
                  <a:t>Frequent travel</a:t>
                </a:r>
                <a:endParaRPr sz="14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85" name="Google Shape;185;p18"/>
            <p:cNvSpPr/>
            <p:nvPr/>
          </p:nvSpPr>
          <p:spPr>
            <a:xfrm>
              <a:off x="2952750" y="1905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6" name="Google Shape;186;p18"/>
            <p:cNvGrpSpPr/>
            <p:nvPr/>
          </p:nvGrpSpPr>
          <p:grpSpPr>
            <a:xfrm>
              <a:off x="2952750" y="190500"/>
              <a:ext cx="952500" cy="266700"/>
              <a:chOff x="0" y="0"/>
              <a:chExt cx="952500" cy="266700"/>
            </a:xfrm>
          </p:grpSpPr>
          <p:sp>
            <p:nvSpPr>
              <p:cNvPr id="187" name="Google Shape;187;p18"/>
              <p:cNvSpPr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7F7F7F"/>
                    </a:solidFill>
                    <a:latin typeface="Lato"/>
                    <a:ea typeface="Lato"/>
                    <a:cs typeface="Lato"/>
                    <a:sym typeface="Lato"/>
                  </a:rPr>
                  <a:t>Medium</a:t>
                </a:r>
                <a:endParaRPr sz="10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89" name="Google Shape;189;p18"/>
            <p:cNvGrpSpPr/>
            <p:nvPr/>
          </p:nvGrpSpPr>
          <p:grpSpPr>
            <a:xfrm>
              <a:off x="190500" y="619125"/>
              <a:ext cx="3714900" cy="952500"/>
              <a:chOff x="0" y="0"/>
              <a:chExt cx="3714900" cy="952500"/>
            </a:xfrm>
          </p:grpSpPr>
          <p:sp>
            <p:nvSpPr>
              <p:cNvPr id="190" name="Google Shape;190;p18"/>
              <p:cNvSpPr/>
              <p:nvPr/>
            </p:nvSpPr>
            <p:spPr>
              <a:xfrm>
                <a:off x="0" y="0"/>
                <a:ext cx="3714900" cy="952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8"/>
              <p:cNvSpPr txBox="1"/>
              <p:nvPr/>
            </p:nvSpPr>
            <p:spPr>
              <a:xfrm>
                <a:off x="0" y="0"/>
                <a:ext cx="3714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Assess the travel demands of employees who frequently travel and check opportunities for reducing the need to travel for frequent travelers.</a:t>
                </a:r>
                <a:endParaRPr sz="11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/>
          <p:nvPr/>
        </p:nvSpPr>
        <p:spPr>
          <a:xfrm>
            <a:off x="320100" y="180425"/>
            <a:ext cx="4897274" cy="459600"/>
          </a:xfrm>
          <a:prstGeom prst="rect">
            <a:avLst/>
          </a:prstGeom>
          <a:solidFill>
            <a:srgbClr val="8C38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2320"/>
              </a:buClr>
              <a:buSzPts val="3000"/>
              <a:buFont typeface="Cambria"/>
              <a:buNone/>
            </a:pPr>
            <a:r>
              <a:rPr lang="en" sz="21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Recommendations For Further Analysis</a:t>
            </a:r>
            <a:endParaRPr sz="21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7" name="Google Shape;197;p19"/>
          <p:cNvGrpSpPr/>
          <p:nvPr/>
        </p:nvGrpSpPr>
        <p:grpSpPr>
          <a:xfrm>
            <a:off x="381000" y="1333500"/>
            <a:ext cx="4000500" cy="3048000"/>
            <a:chOff x="0" y="0"/>
            <a:chExt cx="4000500" cy="3048000"/>
          </a:xfrm>
        </p:grpSpPr>
        <p:sp>
          <p:nvSpPr>
            <p:cNvPr id="198" name="Google Shape;198;p19"/>
            <p:cNvSpPr/>
            <p:nvPr/>
          </p:nvSpPr>
          <p:spPr>
            <a:xfrm>
              <a:off x="0" y="0"/>
              <a:ext cx="4000500" cy="3048000"/>
            </a:xfrm>
            <a:prstGeom prst="roundRect">
              <a:avLst>
                <a:gd name="adj" fmla="val 2500"/>
              </a:avLst>
            </a:prstGeom>
            <a:solidFill>
              <a:srgbClr val="FDFBFB"/>
            </a:solidFill>
            <a:ln w="9525" cap="flat" cmpd="sng">
              <a:solidFill>
                <a:srgbClr val="EA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0" y="0"/>
              <a:ext cx="57300" cy="30480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238125" y="238125"/>
              <a:ext cx="35244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endParaRPr lang="en" sz="1600" b="1" dirty="0">
                <a:solidFill>
                  <a:srgbClr val="8C3831"/>
                </a:solidFill>
                <a:latin typeface="Lato"/>
                <a:ea typeface="Lato"/>
                <a:cs typeface="Lato"/>
              </a:endParaRPr>
            </a:p>
            <a:p>
              <a:pPr marL="0" lvl="0" indent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rPr>
                <a:t>Date-Based Trend Analysis</a:t>
              </a:r>
              <a:endParaRPr sz="1600" b="1" dirty="0">
                <a:solidFill>
                  <a:srgbClr val="8C3831"/>
                </a:solidFill>
                <a:latin typeface="Lato"/>
                <a:ea typeface="Lato"/>
                <a:cs typeface="La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0" dirty="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The inclusion of a date of attrition and date of join fields can allow for date-based trend analysis, identifying seasonality in attrition, if it exists, and correlating events with spikes in attrition.</a:t>
              </a:r>
              <a:endParaRPr sz="1100" b="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1" name="Google Shape;201;p19"/>
          <p:cNvGrpSpPr/>
          <p:nvPr/>
        </p:nvGrpSpPr>
        <p:grpSpPr>
          <a:xfrm>
            <a:off x="4762500" y="1333500"/>
            <a:ext cx="4000500" cy="3048000"/>
            <a:chOff x="0" y="0"/>
            <a:chExt cx="4000500" cy="3048000"/>
          </a:xfrm>
        </p:grpSpPr>
        <p:sp>
          <p:nvSpPr>
            <p:cNvPr id="202" name="Google Shape;202;p19"/>
            <p:cNvSpPr/>
            <p:nvPr/>
          </p:nvSpPr>
          <p:spPr>
            <a:xfrm>
              <a:off x="0" y="0"/>
              <a:ext cx="4000500" cy="3048000"/>
            </a:xfrm>
            <a:prstGeom prst="roundRect">
              <a:avLst>
                <a:gd name="adj" fmla="val 2500"/>
              </a:avLst>
            </a:prstGeom>
            <a:solidFill>
              <a:srgbClr val="FDFBFB"/>
            </a:solidFill>
            <a:ln w="9525" cap="flat" cmpd="sng">
              <a:solidFill>
                <a:srgbClr val="EA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0" y="0"/>
              <a:ext cx="57300" cy="3048000"/>
            </a:xfrm>
            <a:prstGeom prst="roundRect">
              <a:avLst>
                <a:gd name="adj" fmla="val 50000"/>
              </a:avLst>
            </a:prstGeom>
            <a:solidFill>
              <a:srgbClr val="8C38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238125" y="238125"/>
              <a:ext cx="35244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spcBef>
                  <a:spcPts val="1125"/>
                </a:spcBef>
              </a:pPr>
              <a:endParaRPr lang="en" sz="1600" b="1" dirty="0">
                <a:solidFill>
                  <a:srgbClr val="8C383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rPr>
                <a:t>Predictive Modeling</a:t>
              </a:r>
              <a:endParaRPr lang="en-US" sz="1600" b="1" dirty="0">
                <a:solidFill>
                  <a:srgbClr val="8C3831"/>
                </a:solidFill>
                <a:latin typeface="Lato"/>
                <a:ea typeface="Lato"/>
                <a:cs typeface="La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0" dirty="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Data can be explored further to produce predictive models, fields such as Job Satisfaction, education level, and work-life balance can potentially be of great use being used as predictors for predictive machine learning models.</a:t>
              </a:r>
              <a:endParaRPr sz="1100" b="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3CA3D43E-9179-08DD-7D9B-DCB83B471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4698" y="1557580"/>
            <a:ext cx="275096" cy="28962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816F743-92E8-6AF4-3E9F-F05B19F3B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644" y="1557579"/>
            <a:ext cx="299312" cy="2993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0" y="0"/>
            <a:ext cx="9144000" cy="142800"/>
          </a:xfrm>
          <a:prstGeom prst="rect">
            <a:avLst/>
          </a:prstGeom>
          <a:solidFill>
            <a:srgbClr val="8C38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1" name="Google Shape;211;p20"/>
          <p:cNvGrpSpPr/>
          <p:nvPr/>
        </p:nvGrpSpPr>
        <p:grpSpPr>
          <a:xfrm>
            <a:off x="762000" y="1333500"/>
            <a:ext cx="7620000" cy="1428900"/>
            <a:chOff x="762000" y="1333500"/>
            <a:chExt cx="7620000" cy="1428900"/>
          </a:xfrm>
        </p:grpSpPr>
        <p:sp>
          <p:nvSpPr>
            <p:cNvPr id="212" name="Google Shape;212;p20"/>
            <p:cNvSpPr txBox="1"/>
            <p:nvPr/>
          </p:nvSpPr>
          <p:spPr>
            <a:xfrm>
              <a:off x="762000" y="1333500"/>
              <a:ext cx="762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 b="1">
                  <a:solidFill>
                    <a:srgbClr val="8C3831"/>
                  </a:solidFill>
                  <a:latin typeface="Lato"/>
                  <a:ea typeface="Lato"/>
                  <a:cs typeface="Lato"/>
                  <a:sym typeface="Lato"/>
                </a:rPr>
                <a:t>Thank You</a:t>
              </a:r>
              <a:endParaRPr sz="4400" b="1">
                <a:solidFill>
                  <a:srgbClr val="8C383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762000" y="2286000"/>
              <a:ext cx="762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HR Attrition &amp; Retention Analysis</a:t>
              </a:r>
              <a:endParaRPr sz="1600" b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15</cp:revision>
  <dcterms:modified xsi:type="dcterms:W3CDTF">2026-09-10T03:22:50Z</dcterms:modified>
</cp:coreProperties>
</file>